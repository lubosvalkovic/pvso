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8352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Prehľad obsahu prezentácie.
[Sources]
- https://docs.opencv.org/4.x/da/d5c/tutorial_canny_detector.html
- https://en.wikipedia.org/wiki/Canny_edge_detector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Zhrnutie typických krokov Canny.
[Sources]
- https://en.wikipedia.org/wiki/Canny_edge_detector
- https://docs.opencv.org/4.x/da/d5c/tutorial_canny_detector.html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Gaussian vyhladenie je štandardný prvý krok Canny.
[Sources]
- https://en.wikipedia.org/wiki/Canny_edge_detector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Gradient a smer (atan2) a následná kvantizácia smeru sú súčasťou Canny pipeline.
[Sources]
- https://en.wikipedia.org/wiki/Canny_edge_detector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NMS je štandardný krok Canny: lokálne maximum v smere gradientu.
[Sources]
- https://en.wikipedia.org/wiki/Canny_edge_detector
- https://en.wikipedia.org/wiki/Edge_detection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Dvojité prahovanie + sledovanie hrán hysterezou je kľúčové pre Canny.
[Sources]
- https://en.wikipedia.org/wiki/Canny_edge_detector
- https://docs.opencv.org/4.x/da/d5c/tutorial_canny_detector.html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ukazuje ukážkové porovnanie s OpenCV Canny na syntetickom obrázku.
[Sources]
- https://docs.opencv.org/4.x/da/d5c/tutorial_canny_detector.html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Zhrnutie.
[Sources]
- https://en.wikipedia.org/wiki/Canny_edge_detector
- https://docs.opencv.org/4.x/da/d5c/tutorial_canny_detector.html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822960" y="2194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Zjednodušený Canny detektor hrán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Skupina C — implementácia, vysvetlenie kódu a porovnanie s OpenCV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566928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1028700" y="4665726"/>
            <a:ext cx="5257800" cy="1611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buSzPct val="100000"/>
            </a:pPr>
            <a:r>
              <a:rPr lang="sk-SK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Miroslav a Ľuboš </a:t>
            </a:r>
            <a:r>
              <a:rPr lang="sk-SK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Vakovičovci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Implementovať zjednodušený Canny detektor a porovnať s OpenCV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pic>
        <p:nvPicPr>
          <p:cNvPr id="6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45" y="1600200"/>
            <a:ext cx="1023083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(čo sa deje v každom snímku)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Zjednodušená</a:t>
            </a: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implementáci</a:t>
            </a:r>
            <a:r>
              <a:rPr lang="sk-SK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 spracovania: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92024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109728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8" name="Text 6"/>
          <p:cNvSpPr/>
          <p:nvPr/>
        </p:nvSpPr>
        <p:spPr>
          <a:xfrm>
            <a:off x="932688" y="18928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→ frame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51760" y="205740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sk-SK"/>
          </a:p>
        </p:txBody>
      </p:sp>
      <p:sp>
        <p:nvSpPr>
          <p:cNvPr id="10" name="Shape 8"/>
          <p:cNvSpPr/>
          <p:nvPr/>
        </p:nvSpPr>
        <p:spPr>
          <a:xfrm>
            <a:off x="2880360" y="1783080"/>
            <a:ext cx="192024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2880360" y="1783080"/>
            <a:ext cx="109728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Text 10"/>
          <p:cNvSpPr/>
          <p:nvPr/>
        </p:nvSpPr>
        <p:spPr>
          <a:xfrm>
            <a:off x="3081528" y="18928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205740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5029200" y="1783080"/>
            <a:ext cx="192024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5" name="Shape 13"/>
          <p:cNvSpPr/>
          <p:nvPr/>
        </p:nvSpPr>
        <p:spPr>
          <a:xfrm>
            <a:off x="5029200" y="1783080"/>
            <a:ext cx="109728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Text 14"/>
          <p:cNvSpPr/>
          <p:nvPr/>
        </p:nvSpPr>
        <p:spPr>
          <a:xfrm>
            <a:off x="5230368" y="18928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49440" y="205740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sk-SK"/>
          </a:p>
        </p:txBody>
      </p:sp>
      <p:sp>
        <p:nvSpPr>
          <p:cNvPr id="18" name="Shape 16"/>
          <p:cNvSpPr/>
          <p:nvPr/>
        </p:nvSpPr>
        <p:spPr>
          <a:xfrm>
            <a:off x="7178040" y="1783080"/>
            <a:ext cx="192024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9" name="Shape 17"/>
          <p:cNvSpPr/>
          <p:nvPr/>
        </p:nvSpPr>
        <p:spPr>
          <a:xfrm>
            <a:off x="7178040" y="1783080"/>
            <a:ext cx="109728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0" name="Text 18"/>
          <p:cNvSpPr/>
          <p:nvPr/>
        </p:nvSpPr>
        <p:spPr>
          <a:xfrm>
            <a:off x="7379208" y="18928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98280" y="205740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sk-SK"/>
          </a:p>
        </p:txBody>
      </p:sp>
      <p:sp>
        <p:nvSpPr>
          <p:cNvPr id="22" name="Shape 20"/>
          <p:cNvSpPr/>
          <p:nvPr/>
        </p:nvSpPr>
        <p:spPr>
          <a:xfrm>
            <a:off x="9326880" y="1783080"/>
            <a:ext cx="192024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3" name="Shape 21"/>
          <p:cNvSpPr/>
          <p:nvPr/>
        </p:nvSpPr>
        <p:spPr>
          <a:xfrm>
            <a:off x="9326880" y="1783080"/>
            <a:ext cx="109728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4" name="Text 22"/>
          <p:cNvSpPr/>
          <p:nvPr/>
        </p:nvSpPr>
        <p:spPr>
          <a:xfrm>
            <a:off x="9528048" y="18928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Gx/Gy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2514600"/>
            <a:ext cx="192024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6" name="Shape 24"/>
          <p:cNvSpPr/>
          <p:nvPr/>
        </p:nvSpPr>
        <p:spPr>
          <a:xfrm>
            <a:off x="731520" y="2514600"/>
            <a:ext cx="109728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7" name="Text 25"/>
          <p:cNvSpPr/>
          <p:nvPr/>
        </p:nvSpPr>
        <p:spPr>
          <a:xfrm>
            <a:off x="932688" y="26243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 + smer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651760" y="278892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sk-SK"/>
          </a:p>
        </p:txBody>
      </p:sp>
      <p:sp>
        <p:nvSpPr>
          <p:cNvPr id="29" name="Shape 27"/>
          <p:cNvSpPr/>
          <p:nvPr/>
        </p:nvSpPr>
        <p:spPr>
          <a:xfrm>
            <a:off x="2880360" y="2514600"/>
            <a:ext cx="192024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0" name="Shape 28"/>
          <p:cNvSpPr/>
          <p:nvPr/>
        </p:nvSpPr>
        <p:spPr>
          <a:xfrm>
            <a:off x="2880360" y="2514600"/>
            <a:ext cx="109728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1" name="Text 29"/>
          <p:cNvSpPr/>
          <p:nvPr/>
        </p:nvSpPr>
        <p:spPr>
          <a:xfrm>
            <a:off x="3081528" y="26243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00600" y="278892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sk-SK"/>
          </a:p>
        </p:txBody>
      </p:sp>
      <p:sp>
        <p:nvSpPr>
          <p:cNvPr id="33" name="Shape 31"/>
          <p:cNvSpPr/>
          <p:nvPr/>
        </p:nvSpPr>
        <p:spPr>
          <a:xfrm>
            <a:off x="5029200" y="2514600"/>
            <a:ext cx="192024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4" name="Shape 32"/>
          <p:cNvSpPr/>
          <p:nvPr/>
        </p:nvSpPr>
        <p:spPr>
          <a:xfrm>
            <a:off x="5029200" y="2514600"/>
            <a:ext cx="109728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5" name="Text 33"/>
          <p:cNvSpPr/>
          <p:nvPr/>
        </p:nvSpPr>
        <p:spPr>
          <a:xfrm>
            <a:off x="5230368" y="26243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prahy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949440" y="278892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sk-SK"/>
          </a:p>
        </p:txBody>
      </p:sp>
      <p:sp>
        <p:nvSpPr>
          <p:cNvPr id="37" name="Shape 35"/>
          <p:cNvSpPr/>
          <p:nvPr/>
        </p:nvSpPr>
        <p:spPr>
          <a:xfrm>
            <a:off x="7178040" y="2514600"/>
            <a:ext cx="192024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8" name="Shape 36"/>
          <p:cNvSpPr/>
          <p:nvPr/>
        </p:nvSpPr>
        <p:spPr>
          <a:xfrm>
            <a:off x="7178040" y="2514600"/>
            <a:ext cx="109728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9" name="Text 37"/>
          <p:cNvSpPr/>
          <p:nvPr/>
        </p:nvSpPr>
        <p:spPr>
          <a:xfrm>
            <a:off x="7379208" y="26243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Hysterezia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098280" y="278892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sk-SK"/>
          </a:p>
        </p:txBody>
      </p:sp>
      <p:sp>
        <p:nvSpPr>
          <p:cNvPr id="41" name="Shape 39"/>
          <p:cNvSpPr/>
          <p:nvPr/>
        </p:nvSpPr>
        <p:spPr>
          <a:xfrm>
            <a:off x="9326880" y="2514600"/>
            <a:ext cx="192024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2" name="Shape 40"/>
          <p:cNvSpPr/>
          <p:nvPr/>
        </p:nvSpPr>
        <p:spPr>
          <a:xfrm>
            <a:off x="9326880" y="2514600"/>
            <a:ext cx="109728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3" name="Text 41"/>
          <p:cNvSpPr/>
          <p:nvPr/>
        </p:nvSpPr>
        <p:spPr>
          <a:xfrm>
            <a:off x="9528048" y="26243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Výstup: hrany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10287000" y="2331720"/>
            <a:ext cx="0" cy="1828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sk-SK"/>
          </a:p>
        </p:txBody>
      </p:sp>
      <p:sp>
        <p:nvSpPr>
          <p:cNvPr id="45" name="Shape 43"/>
          <p:cNvSpPr/>
          <p:nvPr/>
        </p:nvSpPr>
        <p:spPr>
          <a:xfrm>
            <a:off x="731520" y="3246120"/>
            <a:ext cx="54406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46" name="Text 44"/>
          <p:cNvSpPr/>
          <p:nvPr/>
        </p:nvSpPr>
        <p:spPr>
          <a:xfrm>
            <a:off x="1005840" y="34290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Poznámky ku kódu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005840" y="3840480"/>
            <a:ext cx="4892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Beží v slučke (while True) a spracúva každý frame.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Výpočty filtrov sú robené „manuálne“ cez konvolúciu (sliding_window_view + tensordot).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NMS a hysterezia sú implementované priamo v NumPy.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446520" y="3246120"/>
            <a:ext cx="5010912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49" name="Text 47"/>
          <p:cNvSpPr/>
          <p:nvPr/>
        </p:nvSpPr>
        <p:spPr>
          <a:xfrm>
            <a:off x="6720840" y="3429000"/>
            <a:ext cx="4462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 (z kódu)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720840" y="3840480"/>
            <a:ext cx="446227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resize_width = 400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gaussian_size = 5, sigma = 1.4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high_ratio = 0.18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low_ratio = 0.08 (násobok high)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= 255, weak = 75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Vstup a predspracovanie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Ximea (xiapi) + zjednodušenie pre výkon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8521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robí kód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53035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Otvorí kameru a nastaví expozíciu, formát, auto‑white‑balance.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Zoberie frame → zmenší na šírku 400 px (konštantný výkon).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Prevedie na odtiene šedej (float32).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Prečo: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grayscale zjednoduší výpočet gradientu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resize výrazne zrýchli NMS/hystereziu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0" y="1417320"/>
            <a:ext cx="4709160" cy="48920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9" name="Text 7"/>
          <p:cNvSpPr/>
          <p:nvPr/>
        </p:nvSpPr>
        <p:spPr>
          <a:xfrm>
            <a:off x="6995160" y="16002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Kľúčový úsek (kamera + preprocessing)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03720" y="1920240"/>
            <a:ext cx="452628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get_image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get_image_data_numpy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# resize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resize_width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w0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cv2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resize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resize_width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scale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# grayscale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cv2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cvtColor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cv2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COLOR_BGR2GRAY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astype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058400" cy="347472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Calibri"/>
              </a:rPr>
              <a:t>Použité vzorce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058400" cy="2286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Matematický základ manuálnej implementácie Canny detektora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498348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4480560" cy="237744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Calibri"/>
              </a:rPr>
              <a:t>Gaussian + gradient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4480560" cy="29260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Calibri"/>
              </a:rPr>
              <a:t>Gaussovo jadro:
G(x,y) = 1 / (2πσ²) · exp(-(x²+y²)/(2σ²))
Konvolúcia obrazu:
I_blur(i,j) = Σu Σv G(u,v) · I(i+u, j+v)
Sobelove derivácie:
Gx = Sx * I_blur
Gy = Sy * I_blur
Veľkosť a smer gradientu:
M(i,j) = √(Gx(i,j)² + Gy(i,j)²)
θ(i,j) = atan2(Gy(i,j), Gx(i,j))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143000"/>
            <a:ext cx="4663440" cy="3794760"/>
          </a:xfrm>
          <a:prstGeom prst="roundRect">
            <a:avLst/>
          </a:prstGeom>
          <a:solidFill>
            <a:srgbClr val="0B1220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25312" y="1325880"/>
            <a:ext cx="4206240" cy="237744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NMS, prahy, hysterezia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5312" y="1627632"/>
            <a:ext cx="4160520" cy="30175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/>
            <a:r>
              <a:rPr sz="1500" b="0">
                <a:solidFill>
                  <a:srgbClr val="E5E7EB"/>
                </a:solidFill>
                <a:latin typeface="Calibri"/>
              </a:rPr>
              <a:t>Kvantizácia smeru pre NMS:
θ ∈ {0°, 45°, 90°, 135°}
Non-maximum suppression:
NMS(i,j) = M(i,j), ak je M(i,j) lokálne maximum
v smere θ(i,j); inak 0.
Dvojité prahy:
T_H = max(NMS) · high_ratio
T_L = T_H · low_ratio
Klasifikácia pixelov:
strong: NMS ≥ T_H
weak:   T_L ≤ NMS &lt; T_H
zero:   NMS &lt; T_L
Hysterezia:
weak → strong, ak je 8-susedom nejakého strong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Gaussovo filtrovanie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Odstránenie šumu pred výpočtom gradientu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8978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Myšlienka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53492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Hrany sú citlivé na šum → najprv vyhladiť obraz.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Použitý je 5×5 Gauss kernel so σ = 1.4.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Konvolúcia je urobená v NumPy: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sliding_window_view → okná → tensordot s kernelom.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0" y="1417320"/>
            <a:ext cx="4709160" cy="48920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9" name="Text 7"/>
          <p:cNvSpPr/>
          <p:nvPr/>
        </p:nvSpPr>
        <p:spPr>
          <a:xfrm>
            <a:off x="6995160" y="16002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+ konvolúcia (z kódu)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03720" y="1920240"/>
            <a:ext cx="452628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# gauss kernel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gaussian_size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arange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dtype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meshgrid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gaussian_kernel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(-(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sigma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gaussian_kernel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gaussian_kernel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# gauss filter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padded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"edge"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sliding_window_view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gaussian_size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gaussian_size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blurred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tensordot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gaussian_kernel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axes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Gradient (Sobel) + veľkosť/smer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Výpočet Gx, Gy → magnitúda a uhol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8978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sa počíta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53492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Sobel filtre (3×3) odhadujú derivácie v osi X a Y.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Magnitúda: √(Gx² + Gy²) (potom normalizácia na 0–255).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Smer: atan2(Gy, Gx) → stupne → rozsah 0–180°.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Uhol sa neskôr kvantizuje na 0°, 45°, 90°, 135° (pre NMS).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0" y="1417320"/>
            <a:ext cx="4709160" cy="48920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9" name="Text 7"/>
          <p:cNvSpPr/>
          <p:nvPr/>
        </p:nvSpPr>
        <p:spPr>
          <a:xfrm>
            <a:off x="6995160" y="16002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+ mag/direction (z kódu)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03720" y="1920240"/>
            <a:ext cx="452628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gx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tensordot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windows_blur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sobel_x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axes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tensordot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windows_blur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sobel_y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axes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# magnituda + direction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magnitude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magnitude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magnitude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magnitude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magnitude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255.0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rad2deg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arctan2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180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Non‑maximum suppression (NMS)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k-SK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 NMS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8978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53492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Cieľ: ponechať len lokálne maximum magnitúdy v smere gradientu.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Uhol sa rozdelí do 4 smerov: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0° (horizontálne), 45°, 90° (vertikálne), 135°.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Pixel sa porovná s dvoma susedmi v danom smere.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Ak nie je maximum → nastaví sa na 0.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0" y="1417320"/>
            <a:ext cx="4709160" cy="48920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9" name="Text 7"/>
          <p:cNvSpPr/>
          <p:nvPr/>
        </p:nvSpPr>
        <p:spPr>
          <a:xfrm>
            <a:off x="6995160" y="16002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logika (výrez)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03720" y="1920240"/>
            <a:ext cx="452628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m0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22.5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157.5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180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m45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22.5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67.5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m90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67.5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112.5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m135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112.5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157.5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# príklad pre 90° (porovnanie hore/dole)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down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mag0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Dvojité prahovanie + 5) hysterezia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Výber hrán a weak → strong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8978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Dvojité prahovanie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53492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high_threshold = max(NMS) × high_ratio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low_threshold  = high_threshold × low_ratio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Kategórie pixelov: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(255): NMS ≥ high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weak (75):    low ≤ NMS &lt; high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0:            NMS &lt; low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Hysterezia: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weak sa zachová, iba ak je 8‑susedom aspoň jedného strong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iteruje sa, kým už nepribudnú nové strong pixely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0" y="1417320"/>
            <a:ext cx="4709160" cy="48920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9" name="Text 7"/>
          <p:cNvSpPr/>
          <p:nvPr/>
        </p:nvSpPr>
        <p:spPr>
          <a:xfrm>
            <a:off x="6995160" y="16002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Prahovanie + hysterezia (výrez)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03720" y="1920240"/>
            <a:ext cx="452628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high_threshold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nms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high_ratio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low_threshold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high_threshold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low_ratio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nms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high_threshold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255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strong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low_threshold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high_threshold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75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weak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# hysterezia: weak → strong ak má strong suseda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changed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neighbors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8-connected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new_strong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weak_mask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neighbors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new_strong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strong_mask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new_strong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weak_mask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new_strong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changed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Porovnanie: manuálna implementácia vs. OpenCV Canny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na syntetickom obrázku (šum + geometria)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Vľavo vstup, v strede manuálny Canny (tento kód), vpravo OpenCV Canny: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6118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Vstup (gray + šum)</a:t>
            </a:r>
            <a:endParaRPr lang="en-US" sz="1400" dirty="0"/>
          </a:p>
        </p:txBody>
      </p:sp>
      <p:pic>
        <p:nvPicPr>
          <p:cNvPr id="8" name="Image 0" descr="/mnt/data/canny_assets/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67812"/>
            <a:ext cx="3337560" cy="2002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89120" y="1874520"/>
            <a:ext cx="36118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0" name="Text 7"/>
          <p:cNvSpPr/>
          <p:nvPr/>
        </p:nvSpPr>
        <p:spPr>
          <a:xfrm>
            <a:off x="4572000" y="20116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Manuálny výstup</a:t>
            </a:r>
            <a:endParaRPr lang="en-US" sz="1400" dirty="0"/>
          </a:p>
        </p:txBody>
      </p:sp>
      <p:pic>
        <p:nvPicPr>
          <p:cNvPr id="11" name="Image 1" descr="/mnt/data/canny_assets/manual_ed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3067812"/>
            <a:ext cx="3337560" cy="2002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229600" y="1874520"/>
            <a:ext cx="36118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3" name="Text 9"/>
          <p:cNvSpPr/>
          <p:nvPr/>
        </p:nvSpPr>
        <p:spPr>
          <a:xfrm>
            <a:off x="8412480" y="20116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Canny</a:t>
            </a:r>
            <a:endParaRPr lang="en-US" sz="1400" dirty="0"/>
          </a:p>
        </p:txBody>
      </p:sp>
      <p:pic>
        <p:nvPicPr>
          <p:cNvPr id="14" name="Image 2" descr="/mnt/data/canny_assets/opencv_edg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3067812"/>
            <a:ext cx="3337560" cy="20025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Záver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671126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Splnené kroky zo zadania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51663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Gaussian filtrovanie (manuálne)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Gradient Sobel (manuálne)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Magnitúda + smer gradientu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Non‑maximum suppression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Dvojité prahovanie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Hysterezia (8‑susednosť, iteratívne)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644652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Ďakujem — otázky?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2064</Words>
  <Application>Microsoft Office PowerPoint</Application>
  <PresentationFormat>Širokouhlá</PresentationFormat>
  <Paragraphs>123</Paragraphs>
  <Slides>11</Slides>
  <Notes>10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Miroslav Valkovič</cp:lastModifiedBy>
  <cp:revision>2</cp:revision>
  <dcterms:created xsi:type="dcterms:W3CDTF">2026-04-13T11:16:21Z</dcterms:created>
  <dcterms:modified xsi:type="dcterms:W3CDTF">2026-04-13T11:37:24Z</dcterms:modified>
</cp:coreProperties>
</file>